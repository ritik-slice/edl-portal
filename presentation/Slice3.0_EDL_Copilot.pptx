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EDL UNDERWRITING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691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CO-PILOT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the parsing the vendor can't — and learn every format.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2286000" cy="274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hours of CAM filling into a 15-min review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3.0 Hackathon  |  Team: Ritik, Hardik, Amar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Manual CAM is Broken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emails docs → 70-sheet Excel filled by hand → hours of rework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5727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📧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15727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Data Entry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9659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fields typed from emailed docs — hours/file, error-prone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4630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66160" y="15727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931920" y="15727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Unparseable PDFs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66160" y="19659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statements vendor (Ignosis) can't read → 1-2 hr manual effort each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55080" y="15727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720840" y="15727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CE↔CM Back-and-forth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5080" y="19659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pre-PD documents → delays, re-requests mid-PD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15468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" y="326440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43000" y="3264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Inconsistent Checks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36576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Fraud/eligibility checks (CERSAI, dedupe, GST) — skippable, manual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29000" y="315468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566160" y="326440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931920" y="3264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Re-derived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66160" y="36576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Obligation/turnover/ABB computed by hand every time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315468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55080" y="326440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720840" y="3264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Auditability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55080" y="36576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trace of which data came from which document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Built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 the CAM → run checks → editable review → export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554480"/>
            <a:ext cx="960120" cy="868680"/>
          </a:xfrm>
          <a:prstGeom prst="roundRect">
            <a:avLst>
              <a:gd name="adj" fmla="val 842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572768"/>
            <a:ext cx="960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252728" y="1737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99032" y="1554480"/>
            <a:ext cx="960120" cy="868680"/>
          </a:xfrm>
          <a:prstGeom prst="roundRect">
            <a:avLst>
              <a:gd name="adj" fmla="val 842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99032" y="1572768"/>
            <a:ext cx="960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&amp;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331720" y="1737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78024" y="1554480"/>
            <a:ext cx="960120" cy="868680"/>
          </a:xfrm>
          <a:prstGeom prst="roundRect">
            <a:avLst>
              <a:gd name="adj" fmla="val 842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78024" y="1572768"/>
            <a:ext cx="960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Bank/GST/Bureau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410712" y="1737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557016" y="1554480"/>
            <a:ext cx="960120" cy="868680"/>
          </a:xfrm>
          <a:prstGeom prst="roundRect">
            <a:avLst>
              <a:gd name="adj" fmla="val 842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557016" y="1572768"/>
            <a:ext cx="960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EMI/Income/ABB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89704" y="1737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36008" y="1554480"/>
            <a:ext cx="960120" cy="868680"/>
          </a:xfrm>
          <a:prstGeom prst="roundRect">
            <a:avLst>
              <a:gd name="adj" fmla="val 8421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636008" y="1572768"/>
            <a:ext cx="960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568696" y="1737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15000" y="1554480"/>
            <a:ext cx="960120" cy="868680"/>
          </a:xfrm>
          <a:prstGeom prst="roundRect">
            <a:avLst>
              <a:gd name="adj" fmla="val 842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715000" y="1572768"/>
            <a:ext cx="960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&amp;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647688" y="1737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93992" y="1554480"/>
            <a:ext cx="960120" cy="868680"/>
          </a:xfrm>
          <a:prstGeom prst="roundRect">
            <a:avLst>
              <a:gd name="adj" fmla="val 8421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793992" y="1572768"/>
            <a:ext cx="960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Portal: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726680" y="1737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872984" y="1554480"/>
            <a:ext cx="960120" cy="868680"/>
          </a:xfrm>
          <a:prstGeom prst="roundRect">
            <a:avLst>
              <a:gd name="adj" fmla="val 842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872984" y="1572768"/>
            <a:ext cx="960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40080" y="2834640"/>
            <a:ext cx="7863840" cy="1188720"/>
          </a:xfrm>
          <a:prstGeom prst="roundRect">
            <a:avLst>
              <a:gd name="adj" fmla="val 6154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2296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" y="32461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is the source of truth; Excel is a populate-only compute target. We write only INPUT_ sheets; Logic_ formulas recompute on open. Zero formula rewriting.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Architecture: Reuse, Don't Rebuild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CAM's 3-layer model — we plug in, we don't replace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7863840" cy="914400"/>
          </a:xfrm>
          <a:prstGeom prst="roundRect">
            <a:avLst>
              <a:gd name="adj" fmla="val 8000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417320"/>
            <a:ext cx="73152" cy="9144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490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1: INPUT_ sheets (hidden)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783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Machine-fed, dotted JSON keys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(applicantDetails.pan, udyamDetails.details.documentId)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514600"/>
            <a:ext cx="786384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4600"/>
            <a:ext cx="73152" cy="914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587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2: Logic_ sheets (hidden)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2880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underwriting formulas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as-is, never rebuilt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7863840" cy="91440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611880"/>
            <a:ext cx="73152" cy="9144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685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3: Presentation (33 visible)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3977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CE/CM read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Auto-populated from Logic_ calculations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572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write only INPUT_ sheets → Logic_ formulas recompute on open → Zero formula rewriting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Engines: Rules + LLM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Structure-based rules and LLM cover each other — and the LLM teaches the rules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E2E4E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554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PDF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554480"/>
            <a:ext cx="1645920" cy="731520"/>
          </a:xfrm>
          <a:prstGeom prst="roundRect">
            <a:avLst>
              <a:gd name="adj" fmla="val 10000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60320" y="1554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Extractor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(archetype-aware)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5544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554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≥90%?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5544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DCFCE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0" y="1554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(method=rule)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14884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5196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560320" y="265176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56032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maps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→ roles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265176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63440" y="26517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learned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0" y="265176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DCFCE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83680" y="26517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(method=learned)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06908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↓ new format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2519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→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1722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" y="3657600"/>
            <a:ext cx="7863840" cy="731520"/>
          </a:xfrm>
          <a:prstGeom prst="roundRect">
            <a:avLst>
              <a:gd name="adj" fmla="val 10000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22960" y="37307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KPI: "served-by" metric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" y="39776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rule vs LLM usage per case. LLM dependency decreases over time as learned profiles accumulate. Each new format = one-time LLM cost.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Does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3258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Auto-fill CAM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→ CAM fields, no manual entry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06040" y="12344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97480" y="13258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697480" y="1691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the 20%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97480" y="2011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Bilingual, cooperative, non-standard banks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0" y="12344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13258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🏦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846320" y="1691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Banking Features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2011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Income, EMI (250 lenders), ABB, bounces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03720" y="12344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95160" y="13258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995160" y="1691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GST Turnover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95160" y="2011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GSTR-3B → annual turnover (&lt;0.5% accurate)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0632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8640" y="3154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48640" y="35204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Checks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840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Dedupe, GSTIN, name match, completeness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606040" y="30632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697480" y="3154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2697480" y="35204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Engine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697480" y="3840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program + deviation calculation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54880" y="30632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3154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✏️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846320" y="35204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Review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3840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editable, changes persisted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903720" y="30632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95160" y="3154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995160" y="35204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Harness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95160" y="3840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CAM-as-ground-truth, learns per case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Underwriters Still Use Excel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...and how we match 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ONE reason: EDITABILITY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underwriter can override any cell in Excel. That's the only reason they stay.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560320"/>
            <a:ext cx="3657600" cy="1097280"/>
          </a:xfrm>
          <a:prstGeom prst="roundRect">
            <a:avLst>
              <a:gd name="adj" fmla="val 6667"/>
            </a:avLst>
          </a:prstGeom>
          <a:solidFill>
            <a:srgbClr val="423A06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560320"/>
            <a:ext cx="73152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651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Fields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971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by underwriter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Update → persisted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edits locked against re-parse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2560320"/>
            <a:ext cx="3657600" cy="1097280"/>
          </a:xfrm>
          <a:prstGeom prst="roundRect">
            <a:avLst>
              <a:gd name="adj" fmla="val 6667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2560320"/>
            <a:ext cx="73152" cy="109728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2651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 Fields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0" y="2971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Auto-populated from APIs/docs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Read-only, source-tracked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maintained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0233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removes the last reason to stay in Excel.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11 Real CAM Cases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= the CAM itself (turnover, identity, income already verified)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786384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25603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Exact-scored fields (GSTIN, PAN, name, amount, turnover)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41/41 (100%)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GST annual turnover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&lt;0.5% variance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SBI statement (new format)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→ 1,530 txns @ 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Single-Amount bank (Ramya)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 → 100% (1,844 txns)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BOB cooperative (vendor-unparseable)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12/16 @ 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 statement misclassified as 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Correctly excluded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0" y="411480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97280" y="41879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097280" y="455371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Rate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0" y="411480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657600" y="41879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&lt;0.5%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57600" y="455371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Variance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217920" y="411480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217920" y="41879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1,530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217920" y="455371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Txns Parsed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Differentiator: Gets Smarter Every Case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298448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234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1 (Aakash)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554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harness; parsed BOB bilingual the vendor can't; password auto-recovery unlocked ICICI statement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212848"/>
            <a:ext cx="228600" cy="22860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Fix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2468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GSTIN seed from LOS lifted 4 cases at once: 90% → 100%. Lesson: identity from LOS, parsing for financials.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3127248"/>
            <a:ext cx="228600" cy="2286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 Generalization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archetypes discovered, money-vs-date bug fixed, content-based classification replaced filename-based.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4041648"/>
            <a:ext cx="228600" cy="2286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P1.5 Learn Loop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4297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teaches rules — validated live on real ICICI header mapping. Format learned once, pure rules forever after.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4206240"/>
            <a:ext cx="5486400" cy="640080"/>
          </a:xfrm>
          <a:prstGeom prst="roundRect">
            <a:avLst>
              <a:gd name="adj" fmla="val 11429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011680" y="4251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926080" y="4297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B82F6"/>
                </a:solidFill>
              </a:rPr>
              <a:t>→→→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43600" y="4251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47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0972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200400" y="2011680"/>
            <a:ext cx="27432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0" y="246888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11 cases with parsed data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CAM tabs matching every Excel sheet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fields = editable  |  Grey = auto-populated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document → auto-parse → fields populate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 field → Update → persisted with audit trail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Detection: Built Into the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 that are impossible to skip — applied consistently on every application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EE2E2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417320"/>
            <a:ext cx="73152" cy="1417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Bank Statement Tampering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874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reconciliation gate detects modified transactions — if balanceₙ ≠ balanceₙ₋₁ ± amount, flag it. Font/pixel analysis for PDF manipulation.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41732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EF3C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17320"/>
            <a:ext cx="73152" cy="1417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🆔  Identity Fraud Detection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83480" y="1874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PAN/mobile dedupe across applicant &amp; co-applicant. Cross-check PAN embedded in GSTIN. Name match between bank statement holder and applicant.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06324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063240"/>
            <a:ext cx="73152" cy="14173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154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GST Mismatch Detection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3520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 format validation, PAN-in-GSTIN cross-check. GST turnover vs bank credits variance flagging. Filing gap detection.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306324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DCFCE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3063240"/>
            <a:ext cx="73152" cy="1417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0" name="Text 18"/>
          <p:cNvSpPr/>
          <p:nvPr/>
        </p:nvSpPr>
        <p:spPr>
          <a:xfrm>
            <a:off x="4983480" y="3154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Document Completeness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83480" y="3520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Auto-checks if all required pre-PD documents are uploaded. Flags missing bank statements, GST returns, KYC, ITR before CM review starts.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Portal: Attention Panel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exception surfaces as a finding — severity-ranked, evidence-linked, auditable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2560320" cy="2011680"/>
          </a:xfrm>
          <a:prstGeom prst="roundRect">
            <a:avLst>
              <a:gd name="adj" fmla="val 3636"/>
            </a:avLst>
          </a:prstGeom>
          <a:solidFill>
            <a:srgbClr val="3D101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572768"/>
            <a:ext cx="640080" cy="27432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72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9659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Tampered bank statement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dedupe clash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GSTIN-PAN mismatch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6160" y="1463040"/>
            <a:ext cx="2560320" cy="2011680"/>
          </a:xfrm>
          <a:prstGeom prst="roundRect">
            <a:avLst>
              <a:gd name="adj" fmla="val 3636"/>
            </a:avLst>
          </a:prstGeom>
          <a:solidFill>
            <a:srgbClr val="3D3306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0" y="1572768"/>
            <a:ext cx="640080" cy="27432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1572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703320" y="19659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mismatch on bank stmt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dedupe clash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 format invalid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1463040"/>
            <a:ext cx="2560320" cy="2011680"/>
          </a:xfrm>
          <a:prstGeom prst="roundRect">
            <a:avLst>
              <a:gd name="adj" fmla="val 3636"/>
            </a:avLst>
          </a:prstGeom>
          <a:solidFill>
            <a:srgbClr val="0F1A3D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0" y="1572768"/>
            <a:ext cx="640080" cy="27432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1572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537960" y="19659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GST variance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completeness gap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 frequency irregular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749040"/>
            <a:ext cx="7680960" cy="91440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3822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finding is structured: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41148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"doc": "bank_statement.pdf", "type": "tampered_total", "severity": "high", "evidence": "Font mismatch on total row", "confidence": 0.81 }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Business Impact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lever: underwriter bandwidth → operations cost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1965960" cy="1508760"/>
          </a:xfrm>
          <a:prstGeom prst="roundRect">
            <a:avLst>
              <a:gd name="adj" fmla="val 4848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5087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1-2 hrs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per unparseable statement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all cases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417320"/>
            <a:ext cx="1965960" cy="1508760"/>
          </a:xfrm>
          <a:prstGeom prst="roundRect">
            <a:avLst>
              <a:gd name="adj" fmla="val 4848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06040" y="15087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 min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69748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replaces manual CAM fill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7480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hours → minutes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417320"/>
            <a:ext cx="1965960" cy="1508760"/>
          </a:xfrm>
          <a:prstGeom prst="roundRect">
            <a:avLst>
              <a:gd name="adj" fmla="val 4848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0" y="15087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84632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automated checks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dedupe, GSTIN, name match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03720" y="1417320"/>
            <a:ext cx="1965960" cy="1508760"/>
          </a:xfrm>
          <a:prstGeom prst="roundRect">
            <a:avLst>
              <a:gd name="adj" fmla="val 4848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903720" y="15087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Linear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99516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without more analysts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95160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learn-from-LLM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32004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manual updation — auto-populate, review exceptions only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CE↔CM back-and-forth — completeness check flags missing docs upfront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returns — each new bank format is a one-time cost, then pure rules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linearly — more applications ≠ proportionally more analyst hours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Roadmap &amp; 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7863840" cy="73152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325880"/>
            <a:ext cx="502920" cy="45720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3258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08760" y="1298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replacing CAM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508760" y="15727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Browse, upload, edit, export — full underwriter workflow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057400"/>
            <a:ext cx="7863840" cy="73152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2194560"/>
            <a:ext cx="502920" cy="45720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08760" y="2167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detection v2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08760" y="24414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ML-based tamper detection, cross-document anomaly scoring, real-time fraud alerts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926080"/>
            <a:ext cx="7863840" cy="73152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3063240"/>
            <a:ext cx="502920" cy="457200"/>
          </a:xfrm>
          <a:prstGeom prst="roundRect">
            <a:avLst>
              <a:gd name="adj" fmla="val 10000"/>
            </a:avLst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0632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087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learning loop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331012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LLM-text formats into learned recipes; extend to GST/ITR/KYC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794760"/>
            <a:ext cx="7863840" cy="73152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3931920"/>
            <a:ext cx="502920" cy="457200"/>
          </a:xfrm>
          <a:prstGeom prst="roundRect">
            <a:avLst>
              <a:gd name="adj" fmla="val 10000"/>
            </a:avLst>
          </a:prstGeom>
          <a:solidFill>
            <a:srgbClr val="6B728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9319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08760" y="3904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password affordance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8760" y="417880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CE-supplied passwords for PDFs no identity-derived candidate unlocks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286000" y="4572000"/>
            <a:ext cx="4572000" cy="411480"/>
          </a:xfrm>
          <a:prstGeom prst="roundRect">
            <a:avLst>
              <a:gd name="adj" fmla="val 17778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286000" y="4572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Pilot on a live queue to quantify hours saved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 Stack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7315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280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5361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pdfplumber · openpyxl · Azure OpenAI (GPT-4o) · pandas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7680960" cy="7315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194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450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TypeScript · Tailwind CSS · Recharts · Vite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3017520"/>
            <a:ext cx="7680960" cy="7315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108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3364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(Rancher Desktop) · PostgreSQL · Redis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7680960" cy="7315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0233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Engine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2793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reconciliation · PAN/GSTIN cross-check · Name match · Document completeness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4846320"/>
            <a:ext cx="7680960" cy="7315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937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51937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22-tab CAM view · 25-sheet parser · ~2,000 editable fields/CAM · Fraud attention panel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github.com/Ritik-slice/EDL-PORTAL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EDL Underwriting Co-Pilot — Slice 3.0 Hackathon</dc:title>
  <dc:subject>PptxGenJS Presentation</dc:subject>
  <dc:creator>Ritik, Hardik, Amar</dc:creator>
  <cp:lastModifiedBy>Ritik, Hardik, Amar</cp:lastModifiedBy>
  <cp:revision>1</cp:revision>
  <dcterms:created xsi:type="dcterms:W3CDTF">2026-06-09T10:23:55Z</dcterms:created>
  <dcterms:modified xsi:type="dcterms:W3CDTF">2026-06-09T10:23:55Z</dcterms:modified>
</cp:coreProperties>
</file>